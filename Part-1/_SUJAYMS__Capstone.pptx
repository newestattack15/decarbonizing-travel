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312" y="3705225"/>
            <a:ext cx="4143375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323975"/>
            <a:ext cx="116014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sz="5250" b="1" i="0" u="none">
                <a:solidFill>
                  <a:srgbClr val="F8FAFC"/>
                </a:solidFill>
                <a:latin typeface="Urbanist"/>
              </a:rPr>
              <a:t>Sustainability Capstone:</a:t>
            </a:r>
            <a:r>
              <a:t>
</a:t>
            </a:r>
            <a:r>
              <a:rPr sz="5250" b="1" i="0" u="none">
                <a:solidFill>
                  <a:srgbClr val="10B981"/>
                </a:solidFill>
                <a:latin typeface="Urbanist"/>
              </a:rPr>
              <a:t>Decarbonising Travel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81325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Urbanist Medium"/>
              </a:rPr>
              <a:t>A Data-Driven Path to Net Zero by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3412" y="3895725"/>
            <a:ext cx="3343275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F8FAFC"/>
                </a:solidFill>
                <a:latin typeface="Urbanist"/>
              </a:rPr>
              <a:t>Speaker:</a:t>
            </a:r>
            <a:r>
              <a:rPr sz="1650" b="0" i="0" u="none" dirty="0">
                <a:solidFill>
                  <a:srgbClr val="F8FAFC"/>
                </a:solidFill>
                <a:latin typeface="Urbanist"/>
              </a:rPr>
              <a:t> </a:t>
            </a:r>
            <a:r>
              <a:rPr lang="en-IN" sz="1650" dirty="0">
                <a:solidFill>
                  <a:srgbClr val="F8FAFC"/>
                </a:solidFill>
                <a:latin typeface="Urbanist"/>
              </a:rPr>
              <a:t>Sujay M S</a:t>
            </a:r>
            <a:endParaRPr sz="1650" b="0" i="0" u="none" dirty="0">
              <a:solidFill>
                <a:srgbClr val="F8FAFC"/>
              </a:solidFill>
              <a:latin typeface="Urbanis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3412" y="4257675"/>
            <a:ext cx="3343275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F8FAFC"/>
                </a:solidFill>
                <a:latin typeface="Urbanist"/>
              </a:rPr>
              <a:t>Institute:</a:t>
            </a:r>
            <a:r>
              <a:rPr sz="1650" b="0" i="0" u="none" dirty="0">
                <a:solidFill>
                  <a:srgbClr val="F8FAFC"/>
                </a:solidFill>
                <a:latin typeface="Urbanist"/>
              </a:rPr>
              <a:t> </a:t>
            </a:r>
            <a:r>
              <a:rPr lang="en-IN" sz="1650" dirty="0">
                <a:solidFill>
                  <a:srgbClr val="F8FAFC"/>
                </a:solidFill>
                <a:latin typeface="Urbanist"/>
              </a:rPr>
              <a:t>NITK </a:t>
            </a:r>
            <a:r>
              <a:rPr lang="en-IN" sz="1650" dirty="0" err="1">
                <a:solidFill>
                  <a:srgbClr val="F8FAFC"/>
                </a:solidFill>
                <a:latin typeface="Urbanist"/>
              </a:rPr>
              <a:t>Surthkal</a:t>
            </a:r>
            <a:endParaRPr sz="1650" b="0" i="0" u="none" dirty="0">
              <a:solidFill>
                <a:srgbClr val="F8FAFC"/>
              </a:solidFill>
              <a:latin typeface="Urbanis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43412" y="4619625"/>
            <a:ext cx="3343275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IN" sz="1650" b="1" i="0" u="none" dirty="0">
                <a:solidFill>
                  <a:srgbClr val="F8FAFC"/>
                </a:solidFill>
                <a:latin typeface="Urbanist"/>
              </a:rPr>
              <a:t>Year        : Third Year</a:t>
            </a:r>
            <a:endParaRPr sz="1650" b="0" i="0" u="none" dirty="0">
              <a:solidFill>
                <a:srgbClr val="F8FAFC"/>
              </a:solidFill>
              <a:latin typeface="Urbanis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43412" y="4981575"/>
            <a:ext cx="3343275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F8FAFC"/>
                </a:solidFill>
                <a:latin typeface="Urbanist"/>
              </a:rPr>
              <a:t>Email ID:</a:t>
            </a:r>
            <a:r>
              <a:rPr sz="1650" b="0" i="0" u="none" dirty="0">
                <a:solidFill>
                  <a:srgbClr val="F8FAFC"/>
                </a:solidFill>
                <a:latin typeface="Urbanist"/>
              </a:rPr>
              <a:t> </a:t>
            </a:r>
            <a:r>
              <a:rPr lang="en-IN" sz="1650" dirty="0">
                <a:solidFill>
                  <a:srgbClr val="F8FAFC"/>
                </a:solidFill>
                <a:latin typeface="Urbanist"/>
              </a:rPr>
              <a:t>sujayms934@gmail.com</a:t>
            </a:r>
            <a:endParaRPr sz="1650" b="0" i="0" u="none" dirty="0">
              <a:solidFill>
                <a:srgbClr val="F8FAFC"/>
              </a:solidFill>
              <a:latin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71850"/>
            <a:ext cx="11049000" cy="3019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1362075"/>
            <a:ext cx="3810000" cy="1628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362075"/>
            <a:ext cx="3810000" cy="1628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95525" y="1657350"/>
            <a:ext cx="32194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sz="5250" b="1" i="0" u="none">
                <a:solidFill>
                  <a:srgbClr val="10B981"/>
                </a:solidFill>
                <a:latin typeface="Urbanist"/>
              </a:rPr>
              <a:t>178.1M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5525" y="2419350"/>
            <a:ext cx="32194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Urbanist"/>
              </a:rPr>
              <a:t>Total kg CO₂e Emissions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657350"/>
            <a:ext cx="32194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sz="5250" b="1" i="0" u="none">
                <a:solidFill>
                  <a:srgbClr val="10B981"/>
                </a:solidFill>
                <a:latin typeface="Urbanist"/>
              </a:rPr>
              <a:t>$140.5M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2419350"/>
            <a:ext cx="32194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Urbanist"/>
              </a:rPr>
              <a:t>Total Travel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667125"/>
            <a:ext cx="10077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Top Insight: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Unregulated out-of-policy bookings (18.39%) and extreme reliance on long-haul flights drive the vast majority of our 178M kg CO₂e footprint.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4476750"/>
            <a:ext cx="10077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Top Recommendation: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Mandate pre-booking automated approvals and systematically shift short-haul routes (like Madrid-Berlin) to rail travel.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5286375"/>
            <a:ext cx="10077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Projected Impact: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Decarbonizing travel is critical to Celonis' 2030 Net Zero target. Our integration cuts total emissions by ~35M kg and saves ~$26M annually.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6672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Urbanist"/>
              </a:rPr>
              <a:t>Results at a Glance </a:t>
            </a:r>
            <a:r>
              <a:rPr sz="3375" b="1" i="0" u="none">
                <a:solidFill>
                  <a:srgbClr val="10B981"/>
                </a:solidFill>
                <a:latin typeface="Urbanist"/>
              </a:rPr>
              <a:t>(Executive Summary)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686175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4495800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53054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71675"/>
            <a:ext cx="5286375" cy="381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952500" y="1685925"/>
                <a:ext cx="4905375" cy="86523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2250"/>
                  </a:lnSpc>
                </a:pPr>
                <a:r>
                  <a:rPr lang="en-IN" sz="1600" dirty="0">
                    <a:solidFill>
                      <a:schemeClr val="bg1"/>
                    </a:solidFill>
                  </a:rPr>
                  <a:t>Our analysis using the </a:t>
                </a:r>
                <a:r>
                  <a:rPr lang="en-IN" sz="1600" dirty="0" err="1">
                    <a:solidFill>
                      <a:schemeClr val="bg1"/>
                    </a:solidFill>
                  </a:rPr>
                  <a:t>Celonis</a:t>
                </a:r>
                <a:r>
                  <a:rPr lang="en-IN" sz="1600" dirty="0">
                    <a:solidFill>
                      <a:schemeClr val="bg1"/>
                    </a:solidFill>
                  </a:rPr>
                  <a:t> platform identified </a:t>
                </a:r>
                <a:r>
                  <a:rPr lang="en-IN" b="1" dirty="0">
                    <a:solidFill>
                      <a:schemeClr val="bg1"/>
                    </a:solidFill>
                  </a:rPr>
                  <a:t>178,090,088 kg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>
                            <a:solidFill>
                              <a:schemeClr val="bg1"/>
                            </a:solidFill>
                          </a:rPr>
                          <m:t>CO</m:t>
                        </m:r>
                      </m:e>
                      <m:sub>
                        <m:r>
                          <a:rPr lang="en-IN">
                            <a:solidFill>
                              <a:schemeClr val="bg1"/>
                            </a:solidFill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IN">
                        <a:solidFill>
                          <a:schemeClr val="bg1"/>
                        </a:solidFill>
                      </a:rPr>
                      <m:t>e</m:t>
                    </m:r>
                  </m:oMath>
                </a14:m>
                <a:r>
                  <a:rPr lang="en-IN" sz="1600" dirty="0">
                    <a:solidFill>
                      <a:schemeClr val="bg1"/>
                    </a:solidFill>
                  </a:rPr>
                  <a:t>generated across 65,289 employee business trips, averaging ~2.73 metric tons per trip.</a:t>
                </a:r>
                <a:endParaRPr sz="1500" b="0" i="0" u="none" dirty="0">
                  <a:solidFill>
                    <a:srgbClr val="CBD5E1"/>
                  </a:solidFill>
                  <a:latin typeface="Urbanist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685925"/>
                <a:ext cx="4905375" cy="865237"/>
              </a:xfrm>
              <a:prstGeom prst="rect">
                <a:avLst/>
              </a:prstGeom>
              <a:blipFill>
                <a:blip r:embed="rId4"/>
                <a:stretch>
                  <a:fillRect l="-2857" t="-4255" r="-2360" b="-141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52500" y="2781300"/>
            <a:ext cx="49053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Industry Benchmark: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The tech and professional services sector averages 2–10 tCO₂e per employee annually. Our heavy reliance on air travel pushes us toward the extreme upper bound.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162425"/>
            <a:ext cx="4905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Our footprint is highly concentrated: Air travel (Business and Economy) accounts for over </a:t>
            </a:r>
            <a:r>
              <a:rPr sz="1500" b="1" i="0" u="none">
                <a:solidFill>
                  <a:srgbClr val="F8FAFC"/>
                </a:solidFill>
                <a:latin typeface="Urbanist"/>
              </a:rPr>
              <a:t>95% of total travel emissions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. Train and EV usage is virtually non-existent.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5257800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To achieve </a:t>
            </a:r>
            <a:r>
              <a:rPr sz="1500" b="1" i="0" u="none">
                <a:solidFill>
                  <a:srgbClr val="F8FAFC"/>
                </a:solidFill>
                <a:latin typeface="Urbanist"/>
              </a:rPr>
              <a:t>Net Zero by 2030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, we must aggressively decouple corporate growth from aviation dependence.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Urbanist"/>
              </a:rPr>
              <a:t>The Baseline: </a:t>
            </a:r>
            <a:r>
              <a:rPr sz="3375" b="1" i="0" u="none">
                <a:solidFill>
                  <a:srgbClr val="10B981"/>
                </a:solidFill>
                <a:latin typeface="Urbanist"/>
              </a:rPr>
              <a:t>Our Carbon Footprint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0497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0035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8147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76850"/>
            <a:ext cx="190500" cy="200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3695BA-649C-770F-E297-30A734525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1971675"/>
            <a:ext cx="528637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6850"/>
            <a:ext cx="11049000" cy="4819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838700"/>
            <a:ext cx="1104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1" u="none">
                <a:solidFill>
                  <a:srgbClr val="CBD5E1"/>
                </a:solidFill>
                <a:latin typeface="Urbanist"/>
              </a:rPr>
              <a:t>Sales and Marketing are our largest carbon drivers. Geographically, departures from Australia (AU) and Brazil (BR) dominate the footprint, largely driven by ultra-long-haul routes like Sydney-Frankfurt (37.9M kg CO₂e).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Urbanist"/>
              </a:rPr>
              <a:t>Hotspot Analysis: </a:t>
            </a:r>
            <a:r>
              <a:rPr sz="3375" b="1" i="0" u="none">
                <a:solidFill>
                  <a:srgbClr val="10B981"/>
                </a:solidFill>
                <a:latin typeface="Urbanist"/>
              </a:rPr>
              <a:t>Where are we burning carbon?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76350"/>
            <a:ext cx="11049000" cy="5200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5391150"/>
            <a:ext cx="85725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1" u="none">
                <a:solidFill>
                  <a:srgbClr val="F8FAFC"/>
                </a:solidFill>
                <a:latin typeface="Urbanist"/>
              </a:rPr>
              <a:t>Nearly 1 in 5 trips bypass standard corporate travel policies. These unchecked bookings evade automated carbon constraints, directly causing an estimated </a:t>
            </a:r>
            <a:r>
              <a:rPr sz="1650" b="1" i="1" u="none">
                <a:solidFill>
                  <a:srgbClr val="F8FAFC"/>
                </a:solidFill>
                <a:latin typeface="Urbanist"/>
              </a:rPr>
              <a:t>32.7M kg of excess CO₂e</a:t>
            </a:r>
            <a:r>
              <a:rPr sz="1650" b="0" i="1" u="none">
                <a:solidFill>
                  <a:srgbClr val="F8FAFC"/>
                </a:solidFill>
                <a:latin typeface="Urbanist"/>
              </a:rPr>
              <a:t> and </a:t>
            </a:r>
            <a:r>
              <a:rPr sz="1650" b="1" i="1" u="none">
                <a:solidFill>
                  <a:srgbClr val="F8FAFC"/>
                </a:solidFill>
                <a:latin typeface="Urbanist"/>
              </a:rPr>
              <a:t>$25.8M</a:t>
            </a:r>
            <a:r>
              <a:rPr sz="1650" b="0" i="1" u="none">
                <a:solidFill>
                  <a:srgbClr val="F8FAFC"/>
                </a:solidFill>
                <a:latin typeface="Urbanist"/>
              </a:rPr>
              <a:t> in unregulated spend.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10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Urbanist"/>
              </a:rPr>
              <a:t>Inefficiencies Identified: </a:t>
            </a:r>
            <a:r>
              <a:rPr sz="3375" b="1" i="0" u="none">
                <a:solidFill>
                  <a:srgbClr val="10B981"/>
                </a:solidFill>
                <a:latin typeface="Urbanist"/>
              </a:rPr>
              <a:t>Policy Bypass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34290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781175"/>
            <a:ext cx="3429000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781175"/>
            <a:ext cx="3429000" cy="419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2076450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813" y="3028950"/>
            <a:ext cx="2980372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Urbanist"/>
              </a:rPr>
              <a:t>Mandate Short-Haul 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19525"/>
            <a:ext cx="283845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Replacing the Madrid-Berlin flight route (and similar short-hauls) with rail travel would reduce emissions by </a:t>
            </a:r>
            <a:r>
              <a:rPr sz="1500" b="1" i="0" u="none">
                <a:solidFill>
                  <a:srgbClr val="CBD5E1"/>
                </a:solidFill>
                <a:latin typeface="Urbanist"/>
              </a:rPr>
              <a:t>2.96M kg CO₂e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and save associated aviation costs annually.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076450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5813" y="3028950"/>
            <a:ext cx="2980372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Urbanist"/>
              </a:rPr>
              <a:t>Pre-Booking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819525"/>
            <a:ext cx="28384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Enforcing automated Celonis policy checks eliminates the 18.39% out-of-policy rate, saving up to </a:t>
            </a:r>
            <a:r>
              <a:rPr sz="1500" b="1" i="0" u="none">
                <a:solidFill>
                  <a:srgbClr val="CBD5E1"/>
                </a:solidFill>
                <a:latin typeface="Urbanist"/>
              </a:rPr>
              <a:t>32.7M kg CO₂e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and </a:t>
            </a:r>
            <a:r>
              <a:rPr sz="1500" b="1" i="0" u="none">
                <a:solidFill>
                  <a:srgbClr val="CBD5E1"/>
                </a:solidFill>
                <a:latin typeface="Urbanist"/>
              </a:rPr>
              <a:t>$25.8M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per year.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2076450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5813" y="3028950"/>
            <a:ext cx="2980372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Urbanist"/>
              </a:rPr>
              <a:t>Virtual-First Enablement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3819525"/>
            <a:ext cx="28384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Shifting internal/enablement travel (7.1% of trips) to virtual meetings avoids </a:t>
            </a:r>
            <a:r>
              <a:rPr sz="1500" b="1" i="0" u="none">
                <a:solidFill>
                  <a:srgbClr val="CBD5E1"/>
                </a:solidFill>
                <a:latin typeface="Urbanist"/>
              </a:rPr>
              <a:t>12.6M kg CO₂e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and significant operational costs annually.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9312" y="2266950"/>
            <a:ext cx="33337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0" y="2266950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1687" y="2266950"/>
            <a:ext cx="428625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Urbanist"/>
              </a:rPr>
              <a:t>Low Carbon </a:t>
            </a:r>
            <a:r>
              <a:rPr sz="3375" b="1" i="0" u="none">
                <a:solidFill>
                  <a:srgbClr val="10B981"/>
                </a:solidFill>
                <a:latin typeface="Urbanist"/>
              </a:rPr>
              <a:t>Strategic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09575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7968" y="4400550"/>
            <a:ext cx="26683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0B981"/>
                </a:solidFill>
                <a:latin typeface="Urbanist"/>
              </a:rPr>
              <a:t>Year 1: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72025"/>
            <a:ext cx="254124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Implement automated policy checks in Celonis to block high-emission variants and eliminate the 18% out-of-policy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171700"/>
            <a:ext cx="26683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0B981"/>
                </a:solidFill>
                <a:latin typeface="Urbanist"/>
              </a:rPr>
              <a:t>Year 2: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2543175"/>
            <a:ext cx="25412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Roll out strict carbon budgets per Business Unit, specifically targeting the Sales and Marketing divisions.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400550"/>
            <a:ext cx="26683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0B981"/>
                </a:solidFill>
                <a:latin typeface="Urbanist"/>
              </a:rPr>
              <a:t>Year 3: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772025"/>
            <a:ext cx="25412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Enforce mandatory rail adoption for all short-haul routes globally, removing flights under 500km.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1885950"/>
            <a:ext cx="26683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0B981"/>
                </a:solidFill>
                <a:latin typeface="Urbanist"/>
              </a:rPr>
              <a:t>Year 4+: Net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2257425"/>
            <a:ext cx="254124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Full Net-Zero alignment with predictive CO₂ routing and integrated sustainable aviation fuel (SAF) offset purchasing.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820" y="40005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3740" y="40005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99659" y="40005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35579" y="40005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Urbanist"/>
              </a:rPr>
              <a:t>Strategic Integration Roadmap </a:t>
            </a:r>
            <a:r>
              <a:rPr sz="3375" b="1" i="0" u="none">
                <a:solidFill>
                  <a:srgbClr val="10B981"/>
                </a:solidFill>
                <a:latin typeface="Urbanist"/>
              </a:rPr>
              <a:t>(To 2030)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Urbanist"/>
              </a:rPr>
              <a:t>Dashboard View 1: </a:t>
            </a:r>
            <a:r>
              <a:rPr sz="3375" b="1" i="0" u="none">
                <a:solidFill>
                  <a:srgbClr val="10B981"/>
                </a:solidFill>
                <a:latin typeface="Urbanist"/>
              </a:rPr>
              <a:t>Emissions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62200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Urbanist"/>
              </a:rPr>
              <a:t>The Macro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28925"/>
            <a:ext cx="5286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This view establishes our baseline carbon footprint and travel spend at a glance. It directly answers the executive question of our overall emissions profile.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4019550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Total Impact: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178M kg CO₂e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4543425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Financial Spend: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$140.4M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5067300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Volume: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65,289 trips evaluated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03860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5624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86350"/>
            <a:ext cx="190500" cy="200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E78FC8-5A84-F3E7-1A7A-7707CCDCF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571500"/>
            <a:ext cx="5286375" cy="52110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Urbanist"/>
              </a:rPr>
              <a:t>Dashboard View 2: </a:t>
            </a:r>
            <a:r>
              <a:rPr sz="3375" b="1" i="0" u="none">
                <a:solidFill>
                  <a:srgbClr val="10B981"/>
                </a:solidFill>
                <a:latin typeface="Urbanist"/>
              </a:rPr>
              <a:t>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62200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Urbanist"/>
              </a:rPr>
              <a:t>Identifying Internal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28925"/>
            <a:ext cx="5286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The benchmarking tab isolates the specific divisions and geographies responsible for the highest carbon output, revealing clear targets for intervention.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4019550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Top Emitters: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Sales &amp; Marketing BU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4543425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Top Geographies: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Australia (AU) &amp; Brazil (BR)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5067300"/>
            <a:ext cx="452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Travel Purpose: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Core business dominates, but enablement remains a viable reduction target.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03860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5624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86350"/>
            <a:ext cx="190500" cy="200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A7F2E3-A622-EAE8-80E2-A5AEEAEF1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817" y="209040"/>
            <a:ext cx="6182240" cy="6439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Urbanist"/>
              </a:rPr>
              <a:t>Dashboard View 3: </a:t>
            </a:r>
            <a:r>
              <a:rPr sz="3375" b="1" i="0" u="none">
                <a:solidFill>
                  <a:srgbClr val="10B981"/>
                </a:solidFill>
                <a:latin typeface="Urbanist"/>
              </a:rPr>
              <a:t>Drilldown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62200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Urbanist"/>
              </a:rPr>
              <a:t>Actionable Interventions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28925"/>
            <a:ext cx="5286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The drilldown view exposes the specific process inefficiencies and operational habits that we can immediately target for our "Quick Wins".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4019550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Policy Violations: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18.39% of trips are out-of-policy.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4543425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Transport: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Extreme reliance on Aviation over 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5067300"/>
            <a:ext cx="452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Urbanist"/>
              </a:rPr>
              <a:t>Route Optimization: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Specific short-hauls (e.g., Madrid-Berlin) flagged for rail conversion.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03860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5624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86350"/>
            <a:ext cx="190500" cy="200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B5E6F5-4311-5CC0-C5CE-41EBF3654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163547"/>
            <a:ext cx="6300360" cy="65309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71725"/>
            <a:ext cx="116014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Urbanis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76625"/>
            <a:ext cx="11049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Urbanist"/>
              </a:rPr>
              <a:t>Thank you for your commitment to a sustainable future.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29100"/>
            <a:ext cx="11049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 dirty="0" err="1">
                <a:solidFill>
                  <a:srgbClr val="CBD5E1"/>
                </a:solidFill>
                <a:latin typeface="Urbanist"/>
              </a:rPr>
              <a:t>Celonis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 Sustainability Capstone |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719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Urbanist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sujayms934@gmail.com</cp:lastModifiedBy>
  <cp:revision>4</cp:revision>
  <dcterms:created xsi:type="dcterms:W3CDTF">2013-01-27T09:14:16Z</dcterms:created>
  <dcterms:modified xsi:type="dcterms:W3CDTF">2026-07-19T17:59:57Z</dcterms:modified>
  <cp:category/>
</cp:coreProperties>
</file>